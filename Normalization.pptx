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75" r:id="rId4"/>
    <p:sldId id="274" r:id="rId5"/>
    <p:sldId id="258" r:id="rId6"/>
    <p:sldId id="277" r:id="rId7"/>
    <p:sldId id="278" r:id="rId8"/>
    <p:sldId id="268" r:id="rId9"/>
    <p:sldId id="267" r:id="rId10"/>
    <p:sldId id="276" r:id="rId11"/>
    <p:sldId id="259" r:id="rId12"/>
    <p:sldId id="260" r:id="rId13"/>
    <p:sldId id="279" r:id="rId14"/>
    <p:sldId id="261" r:id="rId15"/>
    <p:sldId id="269" r:id="rId16"/>
    <p:sldId id="262" r:id="rId17"/>
    <p:sldId id="263" r:id="rId18"/>
    <p:sldId id="270" r:id="rId19"/>
    <p:sldId id="264" r:id="rId20"/>
    <p:sldId id="271" r:id="rId21"/>
    <p:sldId id="272" r:id="rId22"/>
    <p:sldId id="273" r:id="rId23"/>
    <p:sldId id="265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0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46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648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965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67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45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2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10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817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0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18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30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Normalization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Diagrams &amp; SQL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Data Normalization?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normalization is the process of organizing data in a database to:</a:t>
            </a:r>
          </a:p>
          <a:p>
            <a:r>
              <a:rPr lang="en-IN" dirty="0"/>
              <a:t>Reduce redundancy (duplicate data)</a:t>
            </a:r>
          </a:p>
          <a:p>
            <a:r>
              <a:rPr lang="en-IN" dirty="0"/>
              <a:t>Improve data integrity</a:t>
            </a:r>
          </a:p>
          <a:p>
            <a:r>
              <a:rPr lang="en-US" dirty="0"/>
              <a:t>Make data easier to maintain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B7E41-EBE7-D3FA-4098-D07BEE164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8DF2-C085-6C71-3DCA-7337F6FB0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Normalization is Important?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5EEB4-DEC9-6350-16E7-70BA868D4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Eliminates duplicate data</a:t>
            </a:r>
          </a:p>
          <a:p>
            <a:r>
              <a:rPr lang="en-IN" dirty="0"/>
              <a:t>Prevents data anomalies (update, delete, insert issues)</a:t>
            </a:r>
          </a:p>
          <a:p>
            <a:r>
              <a:rPr lang="en-IN" dirty="0"/>
              <a:t>Ensures consistency</a:t>
            </a:r>
          </a:p>
          <a:p>
            <a:r>
              <a:rPr lang="en-IN" dirty="0"/>
              <a:t>Optimizes storage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4894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62257-3646-64B2-90F1-A0EEE545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6501-0021-88FA-798F-EF7AD593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1NF (First Normal Form)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3EA58-2493-E8B0-A687-FD257F63E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Atomic values</a:t>
            </a:r>
          </a:p>
          <a:p>
            <a:r>
              <a:rPr dirty="0"/>
              <a:t>No repeating groups</a:t>
            </a:r>
            <a:endParaRPr lang="en-US" dirty="0"/>
          </a:p>
          <a:p>
            <a:r>
              <a:rPr lang="en-US" dirty="0"/>
              <a:t>Each column contains atomic (single) values.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5552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1NF SQL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 TABLE </a:t>
            </a:r>
            <a:r>
              <a:rPr dirty="0" err="1"/>
              <a:t>StudentSubjects</a:t>
            </a:r>
            <a:r>
              <a:rPr dirty="0"/>
              <a:t> (Student VARCHAR(50),Subject VARCHAR(50));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E13CC-70D6-AC4A-3553-EB61D153A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E25C-73BE-4B0E-50B3-9B99B440F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1NF SQL Example</a:t>
            </a:r>
            <a:r>
              <a:rPr lang="en-US" dirty="0"/>
              <a:t> –(Before 1NF)</a:t>
            </a:r>
            <a:endParaRPr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F24390-9049-8ACB-AC54-411BF6CB10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839941"/>
              </p:ext>
            </p:extLst>
          </p:nvPr>
        </p:nvGraphicFramePr>
        <p:xfrm>
          <a:off x="1443038" y="2016124"/>
          <a:ext cx="6572250" cy="2453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726941725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104812505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216949513"/>
                    </a:ext>
                  </a:extLst>
                </a:gridCol>
              </a:tblGrid>
              <a:tr h="12265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SUBJECT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891357"/>
                  </a:ext>
                </a:extLst>
              </a:tr>
              <a:tr h="122650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JOHN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MATHS,SCIENCE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012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3070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6324F-B111-07AD-8147-9A4A9F8A8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901E-A553-E33C-AE75-8FF3334F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1NF SQL Example</a:t>
            </a:r>
            <a:r>
              <a:rPr lang="en-US" dirty="0"/>
              <a:t> –(AFTER 1NF)</a:t>
            </a:r>
            <a:endParaRPr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5727DC9-EDE4-3978-4106-F6BABD3AC1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4528361"/>
              </p:ext>
            </p:extLst>
          </p:nvPr>
        </p:nvGraphicFramePr>
        <p:xfrm>
          <a:off x="1443038" y="2016124"/>
          <a:ext cx="6572250" cy="224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1118336536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302906265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874484111"/>
                    </a:ext>
                  </a:extLst>
                </a:gridCol>
              </a:tblGrid>
              <a:tr h="74908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SUBJECT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129375"/>
                  </a:ext>
                </a:extLst>
              </a:tr>
              <a:tr h="7490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JOHN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MATHS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808948"/>
                  </a:ext>
                </a:extLst>
              </a:tr>
              <a:tr h="7490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JOHN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SCIENCE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379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3839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7241-5F9A-B403-9D3D-2B332A213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5734-B8EC-9774-759B-3A1479F0B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1NF SQL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F6A3DF-6BA3-D960-7AC5-7DF1B86CC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0522" y="2016125"/>
            <a:ext cx="3397282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375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8D0A2-4528-4863-85B7-2EC0DC2AA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30C10-3C45-F862-3D7B-39BB6BF2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1NF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5C03D-1976-87DE-6D19-B68D1995F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0479" y="3638919"/>
            <a:ext cx="5405174" cy="1915744"/>
          </a:xfrm>
        </p:spPr>
        <p:txBody>
          <a:bodyPr>
            <a:normAutofit/>
          </a:bodyPr>
          <a:lstStyle/>
          <a:p>
            <a:r>
              <a:rPr dirty="0"/>
              <a:t>CREATE TABLE </a:t>
            </a:r>
            <a:r>
              <a:rPr dirty="0" err="1"/>
              <a:t>StudentSubjects</a:t>
            </a:r>
            <a:r>
              <a:rPr dirty="0"/>
              <a:t> (Student VARCHAR(50),Subject VARCHAR(50));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EAD5BBD-69D0-E0ED-B177-65A86C379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33" y="1946471"/>
            <a:ext cx="5936933" cy="3816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65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C4822-2A19-DF6F-CF00-0BE0246BE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547D-A29E-CCD4-B298-C482C9C5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1NF SQL</a:t>
            </a:r>
          </a:p>
        </p:txBody>
      </p:sp>
      <p:pic>
        <p:nvPicPr>
          <p:cNvPr id="10244" name="Picture 4" descr="Normalization in SQL.. Introduction | by Sukeshgowdakr | Medium">
            <a:extLst>
              <a:ext uri="{FF2B5EF4-FFF2-40B4-BE49-F238E27FC236}">
                <a16:creationId xmlns:a16="http://schemas.microsoft.com/office/drawing/2014/main" id="{EEEDA443-7B35-5820-F4C7-CDEE058068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75" y="2297430"/>
            <a:ext cx="7018479" cy="279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60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2NF (Second Normal Form)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828801"/>
            <a:ext cx="8229600" cy="4231940"/>
          </a:xfrm>
        </p:spPr>
        <p:txBody>
          <a:bodyPr/>
          <a:lstStyle/>
          <a:p>
            <a:r>
              <a:rPr dirty="0"/>
              <a:t>Remove partial dependency</a:t>
            </a:r>
            <a:endParaRPr lang="en-US" dirty="0"/>
          </a:p>
          <a:p>
            <a:endParaRPr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BC74D8A-D13C-659F-43D2-74CB57AAC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811" y="2491017"/>
            <a:ext cx="5715000" cy="4086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2NF SQL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Must be in 1NF.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B3D09-A717-FDE1-56E5-C77DAB54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577EB-1D2B-D57B-C471-6F38D6CA0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2NF SQL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E41AF-8FED-0ED0-CFA6-832B2CE72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 TABLE Courses (</a:t>
            </a:r>
            <a:r>
              <a:rPr dirty="0" err="1"/>
              <a:t>CourseID</a:t>
            </a:r>
            <a:r>
              <a:rPr dirty="0"/>
              <a:t> </a:t>
            </a:r>
            <a:r>
              <a:rPr dirty="0" err="1"/>
              <a:t>INT,Instructor</a:t>
            </a:r>
            <a:r>
              <a:rPr dirty="0"/>
              <a:t> VARCHAR(50));</a:t>
            </a:r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035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3NF (Third Normal Form)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Remove transitive dependency</a:t>
            </a:r>
            <a:r>
              <a:rPr lang="en-US" dirty="0"/>
              <a:t>.</a:t>
            </a:r>
          </a:p>
          <a:p>
            <a:r>
              <a:rPr lang="en-IN" dirty="0"/>
              <a:t>Must be in 2NF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9CE5C-1561-19CA-2945-939BC7720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D65C-F17F-A80D-0EA1-F5524FE2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3NF (Third Normal Form)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17626DA-C728-630F-C643-0DEBA4519C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58100" y="2016125"/>
            <a:ext cx="3742126" cy="344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775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3NF SQL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 TABLE Departments (</a:t>
            </a:r>
            <a:r>
              <a:rPr dirty="0" err="1"/>
              <a:t>DeptID</a:t>
            </a:r>
            <a:r>
              <a:rPr dirty="0"/>
              <a:t> </a:t>
            </a:r>
            <a:r>
              <a:rPr dirty="0" err="1"/>
              <a:t>INT,DeptName</a:t>
            </a:r>
            <a:r>
              <a:rPr dirty="0"/>
              <a:t> VARCHAR(50));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Every determinant is a candidate key</a:t>
            </a:r>
            <a:endParaRPr lang="en-US" dirty="0"/>
          </a:p>
          <a:p>
            <a:r>
              <a:rPr lang="en-US" dirty="0"/>
              <a:t>Strong Version of 3NF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F1EB1-2B04-B001-D428-B642CDFE6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1EAF7-9DD4-1985-7369-AA085A2D8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4F28C-E130-2FE2-3AAF-88DB50E79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0B3AEF8-9459-6F74-090F-48FFD15D6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1600200"/>
            <a:ext cx="7572375" cy="432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604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Normalization Example (Step-by-Step)</a:t>
            </a:r>
            <a:endParaRPr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FE335E-29EA-AF7C-2703-5B031ED226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660968"/>
              </p:ext>
            </p:extLst>
          </p:nvPr>
        </p:nvGraphicFramePr>
        <p:xfrm>
          <a:off x="1443038" y="2016125"/>
          <a:ext cx="6572250" cy="3449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751">
                  <a:extLst>
                    <a:ext uri="{9D8B030D-6E8A-4147-A177-3AD203B41FA5}">
                      <a16:colId xmlns:a16="http://schemas.microsoft.com/office/drawing/2014/main" val="1561852605"/>
                    </a:ext>
                  </a:extLst>
                </a:gridCol>
                <a:gridCol w="2190751">
                  <a:extLst>
                    <a:ext uri="{9D8B030D-6E8A-4147-A177-3AD203B41FA5}">
                      <a16:colId xmlns:a16="http://schemas.microsoft.com/office/drawing/2014/main" val="55673770"/>
                    </a:ext>
                  </a:extLst>
                </a:gridCol>
                <a:gridCol w="2190751">
                  <a:extLst>
                    <a:ext uri="{9D8B030D-6E8A-4147-A177-3AD203B41FA5}">
                      <a16:colId xmlns:a16="http://schemas.microsoft.com/office/drawing/2014/main" val="2633213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ORDER ID </a:t>
                      </a:r>
                      <a:endParaRPr lang="en-IN" dirty="0"/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COUSTOMER</a:t>
                      </a:r>
                      <a:endParaRPr lang="en-IN" dirty="0"/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  <a:endParaRPr lang="en-IN" dirty="0"/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1599281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  <a:endParaRPr lang="en-IN" dirty="0"/>
                    </a:p>
                  </a:txBody>
                  <a:tcPr marL="73025" marR="7302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Pen, Book</a:t>
                      </a:r>
                      <a:endParaRPr lang="en-IN" dirty="0"/>
                    </a:p>
                  </a:txBody>
                  <a:tcPr marL="73025" marR="73025"/>
                </a:tc>
                <a:extLst>
                  <a:ext uri="{0D108BD9-81ED-4DB2-BD59-A6C34878D82A}">
                    <a16:rowId xmlns:a16="http://schemas.microsoft.com/office/drawing/2014/main" val="8950399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F428925-4BEB-0484-78C7-5264654E033A}"/>
              </a:ext>
            </a:extLst>
          </p:cNvPr>
          <p:cNvSpPr txBox="1"/>
          <p:nvPr/>
        </p:nvSpPr>
        <p:spPr>
          <a:xfrm>
            <a:off x="377190" y="2967334"/>
            <a:ext cx="8138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After Normalization: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Orders Table:</a:t>
            </a:r>
            <a:r>
              <a:rPr lang="en-US" dirty="0"/>
              <a:t> (</a:t>
            </a:r>
            <a:r>
              <a:rPr lang="en-US" dirty="0" err="1"/>
              <a:t>OrderID</a:t>
            </a:r>
            <a:r>
              <a:rPr lang="en-US" dirty="0"/>
              <a:t>, Customer)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OrderDetails</a:t>
            </a:r>
            <a:r>
              <a:rPr lang="en-US" b="1" dirty="0"/>
              <a:t> Table:</a:t>
            </a:r>
            <a:r>
              <a:rPr lang="en-US" dirty="0"/>
              <a:t> (</a:t>
            </a:r>
            <a:r>
              <a:rPr lang="en-US" dirty="0" err="1"/>
              <a:t>OrderID</a:t>
            </a:r>
            <a:r>
              <a:rPr lang="en-US" dirty="0"/>
              <a:t>, Product)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31F7D-D8E5-C22B-107C-3CCE6B186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1D009-66BF-C4C7-5DC0-1E64668F7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Anomalies (Problems Without Normalization)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36388-9057-0D41-92A2-8B3B18548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Insert anomaly</a:t>
            </a:r>
            <a:r>
              <a:rPr lang="en-IN" dirty="0"/>
              <a:t> → Cannot add data without other data </a:t>
            </a:r>
          </a:p>
          <a:p>
            <a:r>
              <a:rPr lang="en-IN" b="1" dirty="0"/>
              <a:t>Update anomaly</a:t>
            </a:r>
            <a:r>
              <a:rPr lang="en-IN" dirty="0"/>
              <a:t> → Same data must be updated in many places </a:t>
            </a:r>
          </a:p>
          <a:p>
            <a:r>
              <a:rPr lang="en-IN" b="1" dirty="0"/>
              <a:t>Delete anomaly</a:t>
            </a:r>
            <a:r>
              <a:rPr lang="en-IN" dirty="0"/>
              <a:t> → Losing important data accidentally 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133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7461A-C06B-E8E8-7F03-789DC684B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1CFF9-8B0A-FB5D-DE92-D9E85B7E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F4F48-A5F4-1E5F-93AE-E19D05FF0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 database structure</a:t>
            </a:r>
          </a:p>
          <a:p>
            <a:r>
              <a:rPr lang="en-US" dirty="0"/>
              <a:t>Reduces redundancy</a:t>
            </a:r>
          </a:p>
          <a:p>
            <a:r>
              <a:rPr lang="en-US" dirty="0"/>
              <a:t>Improves consistency</a:t>
            </a:r>
          </a:p>
          <a:p>
            <a:r>
              <a:rPr lang="en-US" dirty="0"/>
              <a:t>Easier </a:t>
            </a:r>
            <a:r>
              <a:rPr lang="en-US" dirty="0" err="1"/>
              <a:t>Maintaines</a:t>
            </a:r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0985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AB5C-8EE1-2121-AF2A-85199E02B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BAFA-10E0-1F7F-9BA3-E520007D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Disadvantages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340A7A-35CF-AA66-04C5-97EECD1E48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3263017"/>
            <a:ext cx="80467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tables → complex queries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Requires joins (can reduce performance in some cases)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621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1NF → Atomic</a:t>
            </a:r>
          </a:p>
          <a:p>
            <a:r>
              <a:t>2NF → No partial</a:t>
            </a:r>
          </a:p>
          <a:p>
            <a:r>
              <a:t>3NF → No transitive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33</TotalTime>
  <Words>334</Words>
  <Application>Microsoft Office PowerPoint</Application>
  <PresentationFormat>On-screen Show (4:3)</PresentationFormat>
  <Paragraphs>82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Gill Sans MT</vt:lpstr>
      <vt:lpstr>Gallery</vt:lpstr>
      <vt:lpstr>Data Normalization</vt:lpstr>
      <vt:lpstr>What is Data Normalization?</vt:lpstr>
      <vt:lpstr>Why Normalization is Important?</vt:lpstr>
      <vt:lpstr>1NF (First Normal Form)</vt:lpstr>
      <vt:lpstr>1NF SQL Example</vt:lpstr>
      <vt:lpstr>1NF SQL Example –(Before 1NF)</vt:lpstr>
      <vt:lpstr>1NF SQL Example –(AFTER 1NF)</vt:lpstr>
      <vt:lpstr>1NF SQL</vt:lpstr>
      <vt:lpstr>1NF SQL</vt:lpstr>
      <vt:lpstr>1NF SQL</vt:lpstr>
      <vt:lpstr>2NF (Second Normal Form)</vt:lpstr>
      <vt:lpstr>2NF SQL</vt:lpstr>
      <vt:lpstr>2NF SQL Example</vt:lpstr>
      <vt:lpstr>3NF (Third Normal Form)</vt:lpstr>
      <vt:lpstr>3NF (Third Normal Form)</vt:lpstr>
      <vt:lpstr>3NF SQL Example</vt:lpstr>
      <vt:lpstr>BCNF</vt:lpstr>
      <vt:lpstr>BCNF</vt:lpstr>
      <vt:lpstr>Normalization Example (Step-by-Step)</vt:lpstr>
      <vt:lpstr>Types of Anomalies (Problems Without Normalization)</vt:lpstr>
      <vt:lpstr>Advantages</vt:lpstr>
      <vt:lpstr>Disadvantages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Niranjan A L</cp:lastModifiedBy>
  <cp:revision>5</cp:revision>
  <dcterms:created xsi:type="dcterms:W3CDTF">2013-01-27T09:14:16Z</dcterms:created>
  <dcterms:modified xsi:type="dcterms:W3CDTF">2026-05-02T07:03:10Z</dcterms:modified>
  <cp:category/>
</cp:coreProperties>
</file>